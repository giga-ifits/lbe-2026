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pembuka. Sampaikan bahwa sesi ini adalah pengantar praktis UI/UX yang berakar pada teori HCI, bukan sekadar tips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alur: dari definisi, ke manusia, ke interaksi, baru ke prinsip praktis.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definisi 'computer' jauh lebih luas dari yang dibayangkan mahasiswa. HCI ada di mana-mana (ubiquity).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utama: UI/UX bukan disiplin yang berdiri sendiri; keduanya turunan dari HCI dan human factors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UI adalah setir dan dasbor; UX adalah keseluruhan pengalaman berkendara dari rumah sampai tujuan.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cepat: minta mahasiswa menyebut satu aplikasi di mana mereka memikirkan tugas, dan satu di mana mereka sibuk memikirkan alatnya.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Ingatkan: 'kita ahli memakai komputer' tidak sama dengan 'kita ahli merancang interaksi untuk orang lain'.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Ketiga sudut pandang ini saling melengkapi. Pilih sesuai pertanyaan riset dan anggaran.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Transisi ke bagian manusia: sebelum bicara tombol dan warna, kita harus tahu batas kemampuan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konkret: badge notifikasi merah kecil di sudut layar memanfaatkan penglihatan tepi.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contoh paling mudah dipahami bahwa desain harus mempertimbangkan keragaman kemampuan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desain: alert tidak terikat pada satu modalitas — pilih modalitas sesuai konteks yang bisa dideteksi sensor.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Contoh: dropdown daripada kolom kosong; breadcrumb daripada mengingat posisi; autofill daripada mengetik ulang.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 jurang inilah yang menjadi peta kerja desainer: mempersempit keduanya.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trade-off: menyederhanakan aksi bisa mengorbankan discoverability. Label tombol yang baik menyelesaikan keduanya.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Kesalahan umum: aksi berhasil tapi tidak ada konfirmasi, sehingga pengguna menekan tombol dua kali.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Feedforward vs feedback: feedforward memberi tahu apa yang akan terjadi; feedback memberi tahu apa yang sudah terjadi.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klasik: kontrol AC mobil lama yang tidak cocok dengan bayangan pengguna tentang cara kerja pendingin.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Ajak mahasiswa mengingat aplikasi yang mereka pahami tanpa pernah membaca panduan — apa yang membuatnya bisa begitu?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Prinsip 4 dan 5 sering tertukar: generalizability lintas aplikasi, consistency di dalam satu aplikasi.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Karena pengguna tidak bisa menyentuh objek digital, desain visual-lah yang harus mengomunikasikan affordance.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Kalimat kunci: affordance menentukan apa yang mungkin, signifier memberi tahu di mana dan bagaimana.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Keenam konsep ini (bersama affordance dan signifier) adalah dasar psikologi interaksi menurut Norman.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menyebut satu contoh desain buruk yang mereka temui minggu ini, lalu diagnosis pakai kosakata hari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Bagikan checklist ini sebagai alat evaluasi tugas desain mahasiswa.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mengaitkan kembali ke slide pertama: UI/UX yang baik membuat tugas terasa mudah.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754880" cy="475488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74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HUMAN-COMPUTER INTERACTION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Dasar-Dasar</a:t>
            </a:r>
            <a:endParaRPr lang="en-US" sz="6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manusia, komputer, dan tugas bertemu — dan bagaimana merancang pertemuan itu agar terasa mudah.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97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Diadaptasi dari materi kuliah HCI (Lecture 1–8) · Departemen Teknik Informatika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Perjalanan Hari Ini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10312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097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6974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Memahami HCI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47472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HCI, di mana posisi UI dan UX, dan mengapa keduanya penting.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547872" y="178308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58768" y="210312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5876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58768" y="26974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Memahami Manusia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858768" y="347472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Persepsi, indra, memori, dan keterbatasan alami pengguna.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55664" y="178308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210312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6974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Memahami Interaksi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47472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umpan balik serta dua jurang yang harus dijembatani desainer.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363456" y="178308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74352" y="210312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7435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74352" y="26974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Prinsip Desain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347472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mental, affordance, signifier, constraint, mapping, feedback.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bagian ini saling menumpuk: teori manusia menjelaskan mengapa prinsip desainnya berbentuk seperti itu.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HCI?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01568" cy="2606040"/>
          </a:xfrm>
          <a:prstGeom prst="roundRect">
            <a:avLst>
              <a:gd name="adj" fmla="val 3509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139696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7552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214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761488"/>
            <a:ext cx="27066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indra, memori, pengalaman, keterampilan, dan pengetahuan yang berbeda-beda. Semua itu ikut menentukan cara ia memakai sistem.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79976" y="1828800"/>
            <a:ext cx="3401568" cy="2606040"/>
          </a:xfrm>
          <a:prstGeom prst="roundRect">
            <a:avLst>
              <a:gd name="adj" fmla="val 3509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7448" y="2139696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27448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48656" y="21214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2761488"/>
            <a:ext cx="27066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hanya PC dan laptop. Ponsel, mobil, oven, pengontrol game, pintu otomatis, sampai aplikasi AR — semuanya komputer.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19872" y="1828800"/>
            <a:ext cx="3401568" cy="2606040"/>
          </a:xfrm>
          <a:prstGeom prst="roundRect">
            <a:avLst>
              <a:gd name="adj" fmla="val 3509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67344" y="2139696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67344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988552" y="21214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467344" y="2761488"/>
            <a:ext cx="27066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Pertukaran pesan bolak-balik antara manusia dan komputer, biasanya untuk menyelesaikan sebuah tugas.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212B57"/>
          </a:solidFill>
          <a:ln w="12700">
            <a:solidFill>
              <a:srgbClr val="212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70916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mempelajari bagaimana manusia berinteraksi dengan teknologi — dan bagaimana merancang interaksi itu agar lebih baik.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BIDANG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HCI dalam Gambaran Besar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480560" y="1691640"/>
            <a:ext cx="3200400" cy="713232"/>
          </a:xfrm>
          <a:prstGeom prst="roundRect">
            <a:avLst>
              <a:gd name="adj" fmla="val 1153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16916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Factors Engineering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2404872"/>
            <a:ext cx="27432" cy="384048"/>
          </a:xfrm>
          <a:prstGeom prst="rect">
            <a:avLst/>
          </a:prstGeom>
          <a:solidFill>
            <a:srgbClr val="C3C9DC"/>
          </a:solidFill>
          <a:ln w="12700">
            <a:solidFill>
              <a:srgbClr val="C3C9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2788920"/>
            <a:ext cx="7004304" cy="27432"/>
          </a:xfrm>
          <a:prstGeom prst="rect">
            <a:avLst/>
          </a:prstGeom>
          <a:solidFill>
            <a:srgbClr val="C3C9DC"/>
          </a:solidFill>
          <a:ln w="12700">
            <a:solidFill>
              <a:srgbClr val="C3C9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6604" y="2788920"/>
            <a:ext cx="27432" cy="274320"/>
          </a:xfrm>
          <a:prstGeom prst="rect">
            <a:avLst/>
          </a:prstGeom>
          <a:solidFill>
            <a:srgbClr val="C3C9DC"/>
          </a:solidFill>
          <a:ln w="12700">
            <a:solidFill>
              <a:srgbClr val="C3C9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3063240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F1F3FA"/>
          </a:solidFill>
          <a:ln w="12700">
            <a:solidFill>
              <a:srgbClr val="D8DD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30632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Design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792724" y="2788920"/>
            <a:ext cx="27432" cy="274320"/>
          </a:xfrm>
          <a:prstGeom prst="rect">
            <a:avLst/>
          </a:prstGeom>
          <a:solidFill>
            <a:srgbClr val="C3C9DC"/>
          </a:solidFill>
          <a:ln w="12700">
            <a:solidFill>
              <a:srgbClr val="C3C9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3063240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30632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038844" y="2788920"/>
            <a:ext cx="27432" cy="274320"/>
          </a:xfrm>
          <a:prstGeom prst="rect">
            <a:avLst/>
          </a:prstGeom>
          <a:solidFill>
            <a:srgbClr val="C3C9DC"/>
          </a:solidFill>
          <a:ln w="12700">
            <a:solidFill>
              <a:srgbClr val="C3C9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3063240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F1F3FA"/>
          </a:solidFill>
          <a:ln w="12700">
            <a:solidFill>
              <a:srgbClr val="D8DD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30632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792724" y="3721608"/>
            <a:ext cx="27432" cy="320040"/>
          </a:xfrm>
          <a:prstGeom prst="rect">
            <a:avLst/>
          </a:prstGeom>
          <a:solidFill>
            <a:srgbClr val="C3C9DC"/>
          </a:solidFill>
          <a:ln w="12700">
            <a:solidFill>
              <a:srgbClr val="C3C9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63240" y="4041648"/>
            <a:ext cx="5477256" cy="27432"/>
          </a:xfrm>
          <a:prstGeom prst="rect">
            <a:avLst/>
          </a:prstGeom>
          <a:solidFill>
            <a:srgbClr val="C3C9DC"/>
          </a:solidFill>
          <a:ln w="12700">
            <a:solidFill>
              <a:srgbClr val="C3C9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9524" y="4041648"/>
            <a:ext cx="27432" cy="274320"/>
          </a:xfrm>
          <a:prstGeom prst="rect">
            <a:avLst/>
          </a:prstGeom>
          <a:solidFill>
            <a:srgbClr val="C3C9DC"/>
          </a:solidFill>
          <a:ln w="12700">
            <a:solidFill>
              <a:srgbClr val="C3C9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65960" y="4315968"/>
            <a:ext cx="2194560" cy="621792"/>
          </a:xfrm>
          <a:prstGeom prst="roundRect">
            <a:avLst>
              <a:gd name="adj" fmla="val 13235"/>
            </a:avLst>
          </a:prstGeom>
          <a:solidFill>
            <a:srgbClr val="FDEEEF"/>
          </a:solidFill>
          <a:ln w="12700">
            <a:solidFill>
              <a:srgbClr val="F3CF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65960" y="43159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B2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701284" y="4041648"/>
            <a:ext cx="27432" cy="274320"/>
          </a:xfrm>
          <a:prstGeom prst="rect">
            <a:avLst/>
          </a:prstGeom>
          <a:solidFill>
            <a:srgbClr val="C3C9DC"/>
          </a:solidFill>
          <a:ln w="12700">
            <a:solidFill>
              <a:srgbClr val="C3C9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4315968"/>
            <a:ext cx="2194560" cy="621792"/>
          </a:xfrm>
          <a:prstGeom prst="roundRect">
            <a:avLst>
              <a:gd name="adj" fmla="val 13235"/>
            </a:avLst>
          </a:prstGeom>
          <a:solidFill>
            <a:srgbClr val="FDEEEF"/>
          </a:solidFill>
          <a:ln w="12700">
            <a:solidFill>
              <a:srgbClr val="F3CFD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17720" y="43159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B2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353044" y="4041648"/>
            <a:ext cx="27432" cy="274320"/>
          </a:xfrm>
          <a:prstGeom prst="rect">
            <a:avLst/>
          </a:prstGeom>
          <a:solidFill>
            <a:srgbClr val="C3C9DC"/>
          </a:solidFill>
          <a:ln w="12700">
            <a:solidFill>
              <a:srgbClr val="C3C9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9480" y="4315968"/>
            <a:ext cx="2194560" cy="621792"/>
          </a:xfrm>
          <a:prstGeom prst="roundRect">
            <a:avLst>
              <a:gd name="adj" fmla="val 13235"/>
            </a:avLst>
          </a:prstGeom>
          <a:solidFill>
            <a:srgbClr val="FDEEEF"/>
          </a:solidFill>
          <a:ln w="12700">
            <a:solidFill>
              <a:srgbClr val="F3CFD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43159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B2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Design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3492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Design, UX Design, dan Interaction Design adalah cabang praktik dari HCI — semuanya berakar pada ilmu tentang manusia dan alat.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INTI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vs UX — Apa Bedanya?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30368" cy="3200400"/>
          </a:xfrm>
          <a:prstGeom prst="roundRect">
            <a:avLst>
              <a:gd name="adj" fmla="val 2857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84832"/>
            <a:ext cx="548640" cy="54864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084832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44988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dilihat, dibaca, dan disentuh pengguna.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Tombol, warna, ikon, tipografi, tata letak, jarak.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Pertanyaannya: “Apakah tampilannya jelas dan mudah dioperasikan?”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91072" y="1783080"/>
            <a:ext cx="5230368" cy="3200400"/>
          </a:xfrm>
          <a:prstGeom prst="roundRect">
            <a:avLst>
              <a:gd name="adj" fmla="val 2857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56832" y="2084832"/>
            <a:ext cx="548640" cy="5486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56832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42632" y="2084832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Experience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656832" y="2788920"/>
            <a:ext cx="44988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dirasakan pengguna sepanjang perjalanannya.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Alur, kecepatan, kemudahan belajar, rasa aman, kepuasan.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Pertanyaannya: “Apakah tujuan penggunanya tercapai dengan nyaman?”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12B57"/>
          </a:solidFill>
          <a:ln w="12700">
            <a:solidFill>
              <a:srgbClr val="212B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2120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adalah bagian dari UX. Antarmuka yang cantik tetap gagal jika tugas pengguna tidak selesai.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Desain: Antarmuka yang Nyaris Tak Terlihat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adalah perantara antara pengguna dan tugasnya — bukan tujuan itu sendiri.</a:t>
            </a:r>
            <a:endParaRPr lang="en-US" sz="1600" dirty="0"/>
          </a:p>
          <a:p>
            <a:pPr marL="342900" indent="-342900">
              <a:lnSpc>
                <a:spcPts val="25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baik desainnya, semakin sedikit pengguna memikirkan alat, dan semakin banyak memikirkan pekerjaannya.</a:t>
            </a:r>
            <a:endParaRPr lang="en-US" sz="1600" dirty="0"/>
          </a:p>
          <a:p>
            <a:pPr marL="342900" indent="-342900">
              <a:lnSpc>
                <a:spcPts val="25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frustrasi ketika waktunya habis untuk mencari tahu cara memakai aplikasi, bukan untuk menyelesaikan tugas.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6035040" cy="1417320"/>
          </a:xfrm>
          <a:prstGeom prst="roundRect">
            <a:avLst>
              <a:gd name="adj" fmla="val 6452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4297680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B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“Tujuan desain HCI adalah membuat antarmuka setransparan mungkin bagi penggunanya.”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223760" y="1874520"/>
            <a:ext cx="4297680" cy="3840480"/>
          </a:xfrm>
          <a:prstGeom prst="roundRect">
            <a:avLst>
              <a:gd name="adj" fmla="val 2381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Rantai Interaksi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89520" y="2697480"/>
            <a:ext cx="35661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D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26974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53728" y="3383280"/>
            <a:ext cx="237744" cy="237744"/>
          </a:xfrm>
          <a:prstGeom prst="downArrow">
            <a:avLst/>
          </a:prstGeom>
          <a:solidFill>
            <a:srgbClr val="A8B0C9"/>
          </a:solidFill>
          <a:ln w="12700">
            <a:solidFill>
              <a:srgbClr val="A8B0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3657600"/>
            <a:ext cx="3566160" cy="658368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0" y="36576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53728" y="4343400"/>
            <a:ext cx="237744" cy="237744"/>
          </a:xfrm>
          <a:prstGeom prst="downArrow">
            <a:avLst/>
          </a:prstGeom>
          <a:solidFill>
            <a:srgbClr val="A8B0C9"/>
          </a:solidFill>
          <a:ln w="12700">
            <a:solidFill>
              <a:srgbClr val="A8B0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4617720"/>
            <a:ext cx="35661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D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46177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Usability: Ukuran Keberhasilan Desain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berarti seberapa efisien pengguna menyelesaikan tugasnya — dan seberapa puas ia setelahnya.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615184" cy="2286000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267004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20040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Efisiensi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384048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langkah dan berapa lama tugas selesai?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47872" y="2377440"/>
            <a:ext cx="2615184" cy="2286000"/>
          </a:xfrm>
          <a:prstGeom prst="roundRect">
            <a:avLst>
              <a:gd name="adj" fmla="val 4000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58768" y="267004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58768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58768" y="320040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Kemudahan Dipelajari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858768" y="384048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cepat pengguna baru bisa memakainya?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55664" y="2377440"/>
            <a:ext cx="2615184" cy="2286000"/>
          </a:xfrm>
          <a:prstGeom prst="roundRect">
            <a:avLst>
              <a:gd name="adj" fmla="val 4000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67004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0040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Ketahanan Kesalahan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384048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sering pengguna salah, dan semudah apa memperbaikinya?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363456" y="2377440"/>
            <a:ext cx="2615184" cy="2286000"/>
          </a:xfrm>
          <a:prstGeom prst="roundRect">
            <a:avLst>
              <a:gd name="adj" fmla="val 4000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74352" y="267004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74352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320040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Kepuasan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674352" y="384048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pengguna mau memakainya lagi besok?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212B57"/>
          </a:solidFill>
          <a:ln w="12700">
            <a:solidFill>
              <a:srgbClr val="212B5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1560" y="4937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tidak bisa ditebak dari kursi desainer — ia harus diuji pada pengguna sungguhan.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ANALISIS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Cara Memandang Pengguna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0" y="1783080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17830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12080" y="1783080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0" y="17830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Predictor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38160" y="1783080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0" y="17830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95728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286000" y="2395728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8880" y="239572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kemampuan fisik manusia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12080" y="2395728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239572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Pengetahuan yang dimiliki pengguna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2395728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39572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pemakaian nyata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74136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Evaluasi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286000" y="3374136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68880" y="3374136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Eksperimen kuantitatif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212080" y="3374136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94960" y="3374136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kualitatif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38160" y="3374136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3374136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lapangan (in situ)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352544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286000" y="4352544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468880" y="4352544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objektif; bisa pakai data yang ada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212080" y="4352544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94960" y="4352544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lebih utuh; bisa menyasar pemula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38160" y="4352544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352544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otentik; perhatian pengguna asli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330952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2286000" y="5330952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468880" y="5330952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“apa”, bukan “mengapa”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212080" y="5330952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94960" y="5330952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 dianalisis; rawan bias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138160" y="5330952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21040" y="5330952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 dijalankan; banyak variabel tak terkendali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MEMAHAMI MANUSIA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Manusia sebagai Sistem Informasi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01568" cy="2651760"/>
          </a:xfrm>
          <a:prstGeom prst="roundRect">
            <a:avLst>
              <a:gd name="adj" fmla="val 3448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240280"/>
            <a:ext cx="402336" cy="402336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7552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2199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880360"/>
            <a:ext cx="2706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rangsangan dari dunia luar diterima oleh indra: penglihatan, pendengaran, sentuhan, penciuman, pengecapan.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78224" y="3063240"/>
            <a:ext cx="265176" cy="265176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9976" y="1920240"/>
            <a:ext cx="3401568" cy="2651760"/>
          </a:xfrm>
          <a:prstGeom prst="roundRect">
            <a:avLst>
              <a:gd name="adj" fmla="val 3448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2240280"/>
            <a:ext cx="402336" cy="402336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7448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48656" y="222199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Pemrosesan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2880360"/>
            <a:ext cx="2706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Kognisi — bagaimana otak menyimpan, mengingat, dan menalar atas informasi yang diterimanya.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18120" y="3063240"/>
            <a:ext cx="265176" cy="265176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1920240"/>
            <a:ext cx="3401568" cy="2651760"/>
          </a:xfrm>
          <a:prstGeom prst="roundRect">
            <a:avLst>
              <a:gd name="adj" fmla="val 3448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67344" y="2240280"/>
            <a:ext cx="402336" cy="402336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67344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88552" y="222199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467344" y="2880360"/>
            <a:ext cx="2706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otak mengendalikan tindakan: menekan tombol, menatap, bergerak, berjalan, berbicara.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yang baik menghormati ketiga tahap ini. Kalau salah satu dibebani berlebihan, pengguna akan lelah, lambat, atau salah.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INDRA PENGGUNA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Persepsi Visual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83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Pusat penglihatan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tajam untuk warna dan detail. Letakkan informasi penting di sini.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620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Penglihatan tepi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22783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Peka pada gerakan, lemah pada detail dan warna. Cocok untuk notifikasi dan alert.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86784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9410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Penglihatan itu terarah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0682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bisa melewatkan umpan balik visual jika sedang melihat ke arah lain.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065776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065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0200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Ketajaman menurun seiring usia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385816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Sediakan pengaturan ukuran font dan kontras yang cukup.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89520" y="1783080"/>
            <a:ext cx="3931920" cy="4160520"/>
          </a:xfrm>
          <a:prstGeom prst="roundRect">
            <a:avLst>
              <a:gd name="adj" fmla="val 2326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Implikasi Desain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251460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hierarki visual yang jelas.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gerakan di tepi layar hanya untuk hal yang benar-benar mendesak.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sampai umpan balik penting hanya muncul sekejap.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kontrol ukuran teks kepada pengguna.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AKSESIBILITAS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Warna Bukan Satu-Satunya Penanda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029200" cy="1874520"/>
          </a:xfrm>
          <a:prstGeom prst="roundRect">
            <a:avLst>
              <a:gd name="adj" fmla="val 487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965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dari 12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788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laki-laki mengalami buta warna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5029200" cy="1874520"/>
          </a:xfrm>
          <a:prstGeom prst="roundRect">
            <a:avLst>
              <a:gd name="adj" fmla="val 4878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4023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dari 200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846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perempuan mengalami buta warna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7830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Aturan Praktisnya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286000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pernah menjadikan warna satu-satunya pembawa makna.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warna untuk menguatkan informasi yang sudah tersampaikan lewat teks, ikon, bentuk, atau posisi.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penting sebaiknya punya label: “Berhasil”, “Gagal”, bukan sekadar hijau dan merah.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kontras teks terhadap latarnya, bukan hanya keindahan paletnya.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Grafik: bedakan seri dengan pola, ketebalan, atau label langsung.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INDRA PENGGUNA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Pendengaran dan Sentuhan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30368" cy="2651760"/>
          </a:xfrm>
          <a:prstGeom prst="roundRect">
            <a:avLst>
              <a:gd name="adj" fmla="val 344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11680"/>
            <a:ext cx="4498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Pendengaran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68880"/>
            <a:ext cx="44988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Telinga tidak terarah dan tidak bisa ditutup — suara selalu masuk.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itu bunyi sangat efektif untuk alert, tetapi mudah berubah jadi gangguan.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Manusia sulit menyaring informasi audio yang berlebihan.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91072" y="1783080"/>
            <a:ext cx="5230368" cy="2651760"/>
          </a:xfrm>
          <a:prstGeom prst="roundRect">
            <a:avLst>
              <a:gd name="adj" fmla="val 3448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56832" y="2011680"/>
            <a:ext cx="4498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B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Sentuhan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468880"/>
            <a:ext cx="44988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Kulit merasakan tekanan, getaran, dan suhu saat bersentuhan.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Umpan balik sentuhan bersifat pribadi — hanya dirasakan oleh penggunanya.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layar sentuh dan VR, umpan balik ini harus dirancang secara sengaja.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12B57"/>
          </a:solidFill>
          <a:ln w="12700">
            <a:solidFill>
              <a:srgbClr val="212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kasus: notifikasi pesan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1206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Ponsel harus memberi tahu kita, tetapi tidak boleh mengganggu orang sekitar. Solusinya lintas indra: sensor cahaya mendeteksi ponsel di meja → kedipkan layar atau lampu; tidak ada cahaya berarti ponsel di saku → getarkan.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KOGNISI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 Pengguna Itu Terbatas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jenis memori yang bekerja saat seseorang memakai aplikasi: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377440" cy="822960"/>
          </a:xfrm>
          <a:prstGeom prst="roundRect">
            <a:avLst>
              <a:gd name="adj" fmla="val 100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94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Store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singkat, hitungan detik. Menampung kesan indra sebelum diproses.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18688"/>
            <a:ext cx="3566160" cy="82296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2186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 Jangka Pendek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21868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kecil dan cepat hilang. Ini yang dipakai saat mengisi formulir.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242816"/>
            <a:ext cx="5029200" cy="822960"/>
          </a:xfrm>
          <a:prstGeom prst="roundRect">
            <a:avLst>
              <a:gd name="adj" fmla="val 10000"/>
            </a:avLst>
          </a:prstGeom>
          <a:solidFill>
            <a:srgbClr val="6B7AB8"/>
          </a:solidFill>
          <a:ln w="12700">
            <a:solidFill>
              <a:srgbClr val="6B7A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24281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 Jangka Panjang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424281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Tahan lama, tempat kebiasaan dan pengetahuan tersimpan.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349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2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 desain: utamakan pengenalan daripada ingatan. Tampilkan pilihan, status, riwayat, dan nilai sebelumnya — jangan minta pengguna menghafal.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 · MEMAHAMI INTERAKSI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Siklus Umpan Balik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manusia berinteraksi dengan dunia: melakukan sesuatu → melihat hasilnya → menyesuaikan tindakan berikutnya.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1460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Pengguna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754880" y="251460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51460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Antarmuka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869680" y="251460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0" y="251460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429000" y="2651760"/>
            <a:ext cx="1188720" cy="292608"/>
          </a:xfrm>
          <a:prstGeom prst="rightArrow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2651760"/>
            <a:ext cx="1188720" cy="292608"/>
          </a:xfrm>
          <a:prstGeom prst="rightArrow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3063240"/>
            <a:ext cx="1188720" cy="292608"/>
          </a:xfrm>
          <a:prstGeom prst="leftArrow">
            <a:avLst/>
          </a:prstGeom>
          <a:solidFill>
            <a:srgbClr val="8D95B8"/>
          </a:solidFill>
          <a:ln w="12700">
            <a:solidFill>
              <a:srgbClr val="8D95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3063240"/>
            <a:ext cx="1188720" cy="292608"/>
          </a:xfrm>
          <a:prstGeom prst="leftArrow">
            <a:avLst/>
          </a:prstGeom>
          <a:solidFill>
            <a:srgbClr val="8D95B8"/>
          </a:solidFill>
          <a:ln w="12700">
            <a:solidFill>
              <a:srgbClr val="8D95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(input)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Umpan balik (output)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389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Gulf of Execution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800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antara niat pengguna dan tindakan yang harus ia lakukan di antarmuka.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0" y="42062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4389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Gulf of Evaluation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800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antara apa yang ditampilkan sistem dan pemahaman pengguna atas hasilnya.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JURANG PERTAMA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Gulf of Execution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830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9B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“Bagaimana saya tahu apa yang bisa saya lakukan?”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3401568" cy="1874520"/>
          </a:xfrm>
          <a:prstGeom prst="roundRect">
            <a:avLst>
              <a:gd name="adj" fmla="val 487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306324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04495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Menentukan niat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3611880"/>
            <a:ext cx="2779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punya tujuan, lalu harus menerjemahkannya menjadi niat yang masuk akal di dalam sistem ini.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79976" y="2834640"/>
            <a:ext cx="3401568" cy="1874520"/>
          </a:xfrm>
          <a:prstGeom prst="roundRect">
            <a:avLst>
              <a:gd name="adj" fmla="val 487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0872" y="306324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90872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02936" y="304495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Mengenali tindakan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90872" y="3611880"/>
            <a:ext cx="2779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harus tahu tindakan apa yang tersedia untuk mewujudkan niat tersebut.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19872" y="2834640"/>
            <a:ext cx="3401568" cy="1874520"/>
          </a:xfrm>
          <a:prstGeom prst="roundRect">
            <a:avLst>
              <a:gd name="adj" fmla="val 487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0768" y="306324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30768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42832" y="304495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Melakukan tindakan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3611880"/>
            <a:ext cx="2779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harus benar-benar mampu menjalankan tindakan itu di antarmuka.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212B57"/>
          </a:solidFill>
          <a:ln w="12700">
            <a:solidFill>
              <a:srgbClr val="212B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983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memanaskan makanan satu menit di microwave butuh tiga langkah — tekan Time Cook, isi waktu, tekan Start. Tombol “1 menit” memperpendek jurang eksekusi, tetapi bisa memperlebar kesulitan menemukan tindakannya.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JURANG KEDUA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Gulf of Evaluation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830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9B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“Bagaimana saya tahu apa yang baru saja terjadi?”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3401568" cy="1874520"/>
          </a:xfrm>
          <a:prstGeom prst="roundRect">
            <a:avLst>
              <a:gd name="adj" fmla="val 487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306324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04495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menampilkan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3611880"/>
            <a:ext cx="2779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harus menyajikan keadaan barunya secara terlihat dan tepat waktu.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79976" y="2834640"/>
            <a:ext cx="3401568" cy="1874520"/>
          </a:xfrm>
          <a:prstGeom prst="roundRect">
            <a:avLst>
              <a:gd name="adj" fmla="val 487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0872" y="306324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90872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02936" y="304495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Pengguna menafsirkan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90872" y="3611880"/>
            <a:ext cx="2779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harus bisa membaca tampilan itu dan memahami artinya.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19872" y="2834640"/>
            <a:ext cx="3401568" cy="1874520"/>
          </a:xfrm>
          <a:prstGeom prst="roundRect">
            <a:avLst>
              <a:gd name="adj" fmla="val 487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0768" y="306324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30768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42832" y="304495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Pengguna menilai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3611880"/>
            <a:ext cx="2779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membandingkan hasil dengan tujuan awalnya: sudah tercapai atau belum?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mempersempitnya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30352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umpan balik segera — indikator loading, animasi, perubahan status.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umpan balik bermakna: “Tersimpan pukul 14:02”, bukan sekadar kedipan.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Tunjukkan keadaan sistem secara terus-menerus, bukan hanya saat gagal.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Tips Menjembatani Jurang Eksekusi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30368" cy="1170432"/>
          </a:xfrm>
          <a:prstGeom prst="roundRect">
            <a:avLst>
              <a:gd name="adj" fmla="val 7813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6712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293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Buat fungsi mudah ditemukan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29514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Bayangkan pengguna berdiri di depan antarmuka Anda untuk pertama kali. Beri label yang jelas.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5230368" cy="1170432"/>
          </a:xfrm>
          <a:prstGeom prst="roundRect">
            <a:avLst>
              <a:gd name="adj" fmla="val 7813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353872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3009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Biarkan pengguna bereksplorasi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66674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mereka merasa aman mencoba: sediakan undo, hindari aksi yang tak bisa dibatalkan.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5230368" cy="1170432"/>
          </a:xfrm>
          <a:prstGeom prst="roundRect">
            <a:avLst>
              <a:gd name="adj" fmla="val 7813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491032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4910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6725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Konsisten dengan alat lain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03834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Adopsi standar yang sudah dikenal — Ctrl+C, Ctrl+V, ikon disket untuk simpan.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91072" y="1783080"/>
            <a:ext cx="5230368" cy="1170432"/>
          </a:xfrm>
          <a:prstGeom prst="roundRect">
            <a:avLst>
              <a:gd name="adj" fmla="val 7813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216712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19293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Kenali pengguna Anda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229514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Layani pemula lewat tindakan yang mudah ditemukan, dan pengguna ahli lewat jalan pintas.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91072" y="3154680"/>
            <a:ext cx="5230368" cy="1170432"/>
          </a:xfrm>
          <a:prstGeom prst="roundRect">
            <a:avLst>
              <a:gd name="adj" fmla="val 7813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353872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14032" y="33009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Gunakan feedforward</a:t>
            </a:r>
            <a:endParaRPr lang="en-US" sz="1650" dirty="0"/>
          </a:p>
        </p:txBody>
      </p:sp>
      <p:sp>
        <p:nvSpPr>
          <p:cNvPr id="29" name="Text 27"/>
          <p:cNvSpPr txBox="1"/>
          <p:nvPr/>
        </p:nvSpPr>
        <p:spPr>
          <a:xfrm>
            <a:off x="7114032" y="366674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petunjuk hasil sebelum tindakan dilakukan — misalnya ikon refresh yang muncul saat menarik layar.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91072" y="4526280"/>
            <a:ext cx="5230368" cy="1170432"/>
          </a:xfrm>
          <a:prstGeom prst="roundRect">
            <a:avLst>
              <a:gd name="adj" fmla="val 7813"/>
            </a:avLst>
          </a:prstGeom>
          <a:solidFill>
            <a:srgbClr val="212B57"/>
          </a:solidFill>
          <a:ln w="12700">
            <a:solidFill>
              <a:srgbClr val="212B5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0" y="4526280"/>
            <a:ext cx="4663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ini bekerja bersama-sama. Antarmuka yang bisa ditemukan tapi tidak konsisten tetap melelahkan.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4 · PRINSIP DESAIN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Mental dan Representasi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30368" cy="2148840"/>
          </a:xfrm>
          <a:prstGeom prst="roundRect">
            <a:avLst>
              <a:gd name="adj" fmla="val 4255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57400"/>
            <a:ext cx="4498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Mental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14600"/>
            <a:ext cx="4498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Pemahaman internal pengguna tentang cara sebuah sistem bekerja. Ia memakai model itu untuk memperkirakan hasil sebelum bertindak.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91072" y="1828800"/>
            <a:ext cx="5230368" cy="2148840"/>
          </a:xfrm>
          <a:prstGeom prst="roundRect">
            <a:avLst>
              <a:gd name="adj" fmla="val 425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56832" y="2057400"/>
            <a:ext cx="4498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Representasi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514600"/>
            <a:ext cx="4498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 dan tampilan yang kita berikan supaya model mental itu terbentuk dengan benar. Representasi yang baik menyederhanakan masalah rumit.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representasi tidak cocok dengan model mental pengguna, ia merasa tidak nyaman — bahkan ketika sistemnya bekerja dengan benar.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3401568" cy="1143000"/>
          </a:xfrm>
          <a:prstGeom prst="roundRect">
            <a:avLst>
              <a:gd name="adj" fmla="val 8000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498348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bar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5303520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 posisi relatif di dalam dokumen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79976" y="4846320"/>
            <a:ext cx="3401568" cy="1143000"/>
          </a:xfrm>
          <a:prstGeom prst="roundRect">
            <a:avLst>
              <a:gd name="adj" fmla="val 8000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72584" y="498348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 seleksi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72584" y="5303520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 apa yang sedang aktif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19872" y="4846320"/>
            <a:ext cx="3401568" cy="1143000"/>
          </a:xfrm>
          <a:prstGeom prst="roundRect">
            <a:avLst>
              <a:gd name="adj" fmla="val 8000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0" y="498348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Metafora &amp; analogi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5303520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sebagai ruang obrolan; koran digital yang meniru edisi cetak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PANDANG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Desainer adalah Pendidik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6126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 perancang antarmuka, kita sebenarnya berperan sebagai pengajar.</a:t>
            </a:r>
            <a:endParaRPr lang="en-US" sz="1600" dirty="0"/>
          </a:p>
          <a:p>
            <a:pPr marL="342900" indent="-342900">
              <a:lnSpc>
                <a:spcPts val="25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kita adalah mengajari pengguna cara kerja aplikasi — lewat desain antarmukanya, bukan lewat manual.</a:t>
            </a:r>
            <a:endParaRPr lang="en-US" sz="1600" dirty="0"/>
          </a:p>
          <a:p>
            <a:pPr marL="342900" indent="-342900">
              <a:lnSpc>
                <a:spcPts val="25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dari guru, kita tidak punya kesempatan menjelaskan langsung kepada pengguna.</a:t>
            </a:r>
            <a:endParaRPr lang="en-US" sz="1600" dirty="0"/>
          </a:p>
          <a:p>
            <a:pPr marL="342900" indent="-342900">
              <a:lnSpc>
                <a:spcPts val="25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itu antarmuka harus mengajar sambil dipakai.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828800"/>
            <a:ext cx="4297680" cy="3108960"/>
          </a:xfrm>
          <a:prstGeom prst="roundRect">
            <a:avLst>
              <a:gd name="adj" fmla="val 2941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Artinya dalam praktik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5146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singkat pada saat dibutuhkan, bukan tur panjang di awal.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kosong (empty state) yang menjelaskan langkah pertama.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kesalahan yang mengajarkan cara memperbaikinya.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212B57"/>
          </a:solidFill>
          <a:ln w="12700">
            <a:solidFill>
              <a:srgbClr val="212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5074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Representasi yang baik menunjukkan kepada pengguna dengan tepat bagaimana sistem bekerja.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Prinsip Antarmuka yang Mudah Dipelajari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29384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1737360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Predictability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1737360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dapat memperkirakan hasil sebelum bertindak. Tombol yang diabu-abukan memberi tahu bahwa mengkliknya tidak akan berpengaruh.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825496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825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44752" y="2633472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Synthesizability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633472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dapat melihat rangkaian tindakan yang membawanya ke keadaan sekarang — misalnya daftar riwayat pada menu undo.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72160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3721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3529584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Familiarity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3529584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memanfaatkan pengalaman pengguna di dunia nyata. Hijau untuk benar dan merah untuk salah, bukan kuning dan biru.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61772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425696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Generalizability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4425696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Pengetahuan dari satu antarmuka berlaku di antarmuka lain. Menyimpan, menyalin, dan menempel sebaiknya bekerja seperti biasanya.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5513832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6112" y="5513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444752" y="5321808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650" dirty="0"/>
          </a:p>
        </p:txBody>
      </p:sp>
      <p:sp>
        <p:nvSpPr>
          <p:cNvPr id="29" name="Text 27"/>
          <p:cNvSpPr txBox="1"/>
          <p:nvPr/>
        </p:nvSpPr>
        <p:spPr>
          <a:xfrm>
            <a:off x="3794760" y="5321808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 yang serupa berperilaku serupa di dalam satu antarmuka yang sama, dalam kondisi apa pun.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PSIKOLOGI INTERAKSI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Affordance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212B57"/>
          </a:solidFill>
          <a:ln w="12700">
            <a:solidFill>
              <a:srgbClr val="212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83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Affordance adalah hubungan antara sifat sebuah objek dan kemampuan penggunanya — ia menentukan tindakan apa saja yang mungkin dilakukan.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230368" cy="1691640"/>
          </a:xfrm>
          <a:prstGeom prst="roundRect">
            <a:avLst>
              <a:gd name="adj" fmla="val 5405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01752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Affordance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429000"/>
            <a:ext cx="4498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 yang benar-benar bisa dilakukan.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kursi memang bisa diduduki.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91072" y="2834640"/>
            <a:ext cx="5230368" cy="1691640"/>
          </a:xfrm>
          <a:prstGeom prst="roundRect">
            <a:avLst>
              <a:gd name="adj" fmla="val 5405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56832" y="301752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B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Perceived Affordance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656832" y="3429000"/>
            <a:ext cx="4498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 yang diyakini pengguna bisa dilakukan.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sebuah tombol terlihat bisa diklik.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antarmuka digital, yang menentukan adalah perceived affordance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5120640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212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timbul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53212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mengisyaratkan diklik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547872" y="5120640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76472" y="5212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bar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776472" y="553212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mengisyaratkan digulir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55664" y="5120640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84264" y="5212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684264" y="553212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mengisyaratkan digeser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363456" y="5120640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92056" y="5212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592056" y="553212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mengisyaratkan memicu aksi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PSIKOLOGI INTERAKSI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Signifier: Membuat Affordance Terlihat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30368" cy="2331720"/>
          </a:xfrm>
          <a:prstGeom prst="roundRect">
            <a:avLst>
              <a:gd name="adj" fmla="val 3922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965960"/>
            <a:ext cx="4498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Affordance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2316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“Tindakan apa yang mungkin dilakukan?”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80360"/>
            <a:ext cx="4498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pintu ini bisa dibuka. Tapi didorong atau ditarik?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91072" y="1783080"/>
            <a:ext cx="5230368" cy="2331720"/>
          </a:xfrm>
          <a:prstGeom prst="roundRect">
            <a:avLst>
              <a:gd name="adj" fmla="val 3922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56832" y="1965960"/>
            <a:ext cx="4498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B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Signifier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656832" y="242316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 mana dan bagaimana tindakan itu dilakukan?”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656832" y="2880360"/>
            <a:ext cx="4498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gagang menandakan tempat menarik; pelat bertuliskan “PUSH” menandakan tempat mendorong.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89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Bentuk signifier yang umum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2048256" cy="658368"/>
          </a:xfrm>
          <a:prstGeom prst="roundRect">
            <a:avLst>
              <a:gd name="adj" fmla="val 125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846320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862072" y="4846320"/>
            <a:ext cx="2048256" cy="658368"/>
          </a:xfrm>
          <a:prstGeom prst="roundRect">
            <a:avLst>
              <a:gd name="adj" fmla="val 125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62072" y="4846320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84064" y="4846320"/>
            <a:ext cx="2048256" cy="658368"/>
          </a:xfrm>
          <a:prstGeom prst="roundRect">
            <a:avLst>
              <a:gd name="adj" fmla="val 125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84064" y="4846320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Panah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06056" y="4846320"/>
            <a:ext cx="2048256" cy="658368"/>
          </a:xfrm>
          <a:prstGeom prst="roundRect">
            <a:avLst>
              <a:gd name="adj" fmla="val 125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06056" y="4846320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Instruksi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528048" y="4846320"/>
            <a:ext cx="2048256" cy="658368"/>
          </a:xfrm>
          <a:prstGeom prst="roundRect">
            <a:avLst>
              <a:gd name="adj" fmla="val 12500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28048" y="4846320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yang disorot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212B57"/>
          </a:solidFill>
          <a:ln w="12700">
            <a:solidFill>
              <a:srgbClr val="212B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7150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Affordance menentukan apa yang mungkin; signifier memberi tahu di mana dan bagaimana.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PSIKOLOGI INTERAKSI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Constraint, Mapping, dan Feedback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01568" cy="2880360"/>
          </a:xfrm>
          <a:prstGeom prst="roundRect">
            <a:avLst>
              <a:gd name="adj" fmla="val 3175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14884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7552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9748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200400"/>
            <a:ext cx="2706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Batasan yang mencegah pengguna melakukan tindakan yang salah. Kolom nomor telepon yang hanya menerima angka, atau tombol kirim yang aktif setelah formulir lengkap.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9976" y="1828800"/>
            <a:ext cx="3401568" cy="2880360"/>
          </a:xfrm>
          <a:prstGeom prst="roundRect">
            <a:avLst>
              <a:gd name="adj" fmla="val 3175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7448" y="214884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27448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269748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3200400"/>
            <a:ext cx="2706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logis antara kontrol dan efeknya. Susunan tombol kompor yang sejajar dengan letak tungkunya, atau slider volume yang naik ke kanan.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19872" y="1828800"/>
            <a:ext cx="3401568" cy="2880360"/>
          </a:xfrm>
          <a:prstGeom prst="roundRect">
            <a:avLst>
              <a:gd name="adj" fmla="val 3175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67344" y="214884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67344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67344" y="269748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8467344" y="3200400"/>
            <a:ext cx="2706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Konfirmasi langsung bahwa sistem menerima tindakan. Indikator memuat, tanda centang, getaran, atau perubahan warna tombol.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12B57"/>
          </a:solidFill>
          <a:ln w="12700">
            <a:solidFill>
              <a:srgbClr val="212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Model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Gabungan affordance, signifier, constraint, mapping, dan feedback membentuk gambaran utuh di kepala pengguna tentang cara sistem bekerja.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Belajar dari Desain yang Buruk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30368" cy="1371600"/>
          </a:xfrm>
          <a:prstGeom prst="roundRect">
            <a:avLst>
              <a:gd name="adj" fmla="val 6667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039112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659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Teko kopi bercerat terbalik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35000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Cerat berada di sisi pegangan. Bentuknya menarik, tetapi mustahil dipakai — affordance-nya bertabrakan.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91072" y="1783080"/>
            <a:ext cx="5230368" cy="1371600"/>
          </a:xfrm>
          <a:prstGeom prst="roundRect">
            <a:avLst>
              <a:gd name="adj" fmla="val 6667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039112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19659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 kamar mandi tanpa penanda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7114032" y="235000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tuas serupa tanpa label. Mana air panas, mana dingin, mana pancuran atas? Perceived affordance-nya ambigu.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5230368" cy="1371600"/>
          </a:xfrm>
          <a:prstGeom prst="roundRect">
            <a:avLst>
              <a:gd name="adj" fmla="val 6667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639312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5661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Microwave tiga langkah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95020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Memanaskan satu menit menuntut urutan tombol yang panjang. Jurang eksekusinya terlalu lebar.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91072" y="3383280"/>
            <a:ext cx="5230368" cy="1371600"/>
          </a:xfrm>
          <a:prstGeom prst="roundRect">
            <a:avLst>
              <a:gd name="adj" fmla="val 6667"/>
            </a:avLst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3639312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35661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Kontrol AC mobil lama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395020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dan warnanya tidak sesuai dengan bayangan pengguna tentang cara kerja pendingin — model mentalnya meleset.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212B57"/>
          </a:solidFill>
          <a:ln w="12700">
            <a:solidFill>
              <a:srgbClr val="212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" y="5120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pengguna melakukan kesalahan, biasanya bukan penggunanya yang keliru — desainnya yang belum cukup jelas.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2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Sebelum Merilis Desain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291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30368" cy="841248"/>
          </a:xfrm>
          <a:prstGeom prst="roundRect">
            <a:avLst>
              <a:gd name="adj" fmla="val 9783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93976"/>
            <a:ext cx="402336" cy="402336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1874520"/>
            <a:ext cx="4261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pengguna tahu tindakan apa yang tersedia? (affordance &amp; signifier)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1874520"/>
            <a:ext cx="5230368" cy="841248"/>
          </a:xfrm>
          <a:prstGeom prst="roundRect">
            <a:avLst>
              <a:gd name="adj" fmla="val 9783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2093976"/>
            <a:ext cx="402336" cy="402336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47104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7456" y="1874520"/>
            <a:ext cx="4261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setiap tindakan memberi umpan balik yang cepat dan bermakna?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98648"/>
            <a:ext cx="5230368" cy="841248"/>
          </a:xfrm>
          <a:prstGeom prst="roundRect">
            <a:avLst>
              <a:gd name="adj" fmla="val 9783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118104"/>
            <a:ext cx="402336" cy="402336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3118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26464" y="2898648"/>
            <a:ext cx="4261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pengguna bisa memperkirakan hasil sebelum menekan?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91072" y="2898648"/>
            <a:ext cx="5230368" cy="841248"/>
          </a:xfrm>
          <a:prstGeom prst="roundRect">
            <a:avLst>
              <a:gd name="adj" fmla="val 9783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47104" y="3118104"/>
            <a:ext cx="402336" cy="402336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47104" y="3118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7456" y="2898648"/>
            <a:ext cx="4261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pengguna bisa membatalkan kesalahannya dengan aman?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922776"/>
            <a:ext cx="5230368" cy="841248"/>
          </a:xfrm>
          <a:prstGeom prst="roundRect">
            <a:avLst>
              <a:gd name="adj" fmla="val 9783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4142232"/>
            <a:ext cx="402336" cy="402336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426464" y="3922776"/>
            <a:ext cx="4261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pola dan pintasannya konsisten di seluruh aplikasi?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91072" y="3922776"/>
            <a:ext cx="5230368" cy="841248"/>
          </a:xfrm>
          <a:prstGeom prst="roundRect">
            <a:avLst>
              <a:gd name="adj" fmla="val 9783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47104" y="4142232"/>
            <a:ext cx="402336" cy="402336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47104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7456" y="3922776"/>
            <a:ext cx="4261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informasi ditampilkan, bukan diminta untuk diingat?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946904"/>
            <a:ext cx="5230368" cy="841248"/>
          </a:xfrm>
          <a:prstGeom prst="roundRect">
            <a:avLst>
              <a:gd name="adj" fmla="val 9783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" y="5166360"/>
            <a:ext cx="402336" cy="402336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6112" y="5166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426464" y="4946904"/>
            <a:ext cx="4261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makna tetap tersampaikan tanpa mengandalkan warna?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91072" y="4946904"/>
            <a:ext cx="5230368" cy="841248"/>
          </a:xfrm>
          <a:prstGeom prst="roundRect">
            <a:avLst>
              <a:gd name="adj" fmla="val 9783"/>
            </a:avLst>
          </a:prstGeom>
          <a:solidFill>
            <a:srgbClr val="2C3866"/>
          </a:solidFill>
          <a:ln w="12700">
            <a:solidFill>
              <a:srgbClr val="3D4A7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47104" y="5166360"/>
            <a:ext cx="402336" cy="402336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47104" y="5166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077456" y="4946904"/>
            <a:ext cx="4261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sudah diuji pada pengguna sungguhan, bukan hanya pada tim?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754880"/>
            <a:ext cx="4023360" cy="4023360"/>
          </a:xfrm>
          <a:prstGeom prst="ellipse">
            <a:avLst/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1097280"/>
            <a:ext cx="2926080" cy="2926080"/>
          </a:xfrm>
          <a:prstGeom prst="ellipse">
            <a:avLst/>
          </a:prstGeom>
          <a:solidFill>
            <a:srgbClr val="FDEEEF"/>
          </a:solidFill>
          <a:ln w="12700">
            <a:solidFill>
              <a:srgbClr val="FDEE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058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Hal untuk Dibawa Pulang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093976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43584" y="20116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Antarmuka adalah perantara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20116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menghubungkan pengguna dengan tugasnya. Semakin transparan, semakin baik.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43584" y="29260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Desain dimulai dari manusia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9260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Persepsi, memori, dan keterbatasan pengguna menentukan batas desain kita.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922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43584" y="38404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Jembatani dua jurang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38404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Perjelas apa yang bisa dilakukan, dan perjelas apa yang baru saja terjadi.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37176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837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43584" y="47548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Buat sistem menjelaskan dirinya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47548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Affordance, signifier, constraint, mapping, dan feedback adalah bahasanya.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71500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212B57"/>
          </a:solidFill>
          <a:ln w="12700">
            <a:solidFill>
              <a:srgbClr val="212B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57150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selamat merancang interaksi yang membuat orang merasa cakap, bukan bodoh.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2026-09-09T06:41:36Z</dcterms:created>
  <dcterms:modified xsi:type="dcterms:W3CDTF">2026-09-09T06:41:36Z</dcterms:modified>
</cp:coreProperties>
</file>